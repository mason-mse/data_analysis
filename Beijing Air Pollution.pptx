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8"/>
  </p:normalViewPr>
  <p:slideViewPr>
    <p:cSldViewPr snapToGrid="0" snapToObjects="1">
      <p:cViewPr varScale="1">
        <p:scale>
          <a:sx n="117" d="100"/>
          <a:sy n="117" d="100"/>
        </p:scale>
        <p:origin x="1384" y="1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4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54D"/>
                </a:solidFill>
              </a:defRPr>
            </a:pPr>
            <a:r>
              <a:t>Beijing Air Quality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303F"/>
                </a:solidFill>
              </a:defRPr>
            </a:pPr>
            <a:r>
              <a:t>Visual &amp; English Presentation | Data + Storytelling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6150979" cy="7309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8303F"/>
                </a:solidFill>
              </a:defRPr>
            </a:pPr>
            <a:r>
              <a:rPr dirty="0"/>
              <a:t>Includes descriptive analytics, station comparison, and correlations.</a:t>
            </a:r>
          </a:p>
          <a:p>
            <a:pPr>
              <a:spcAft>
                <a:spcPts val="900"/>
              </a:spcAft>
              <a:defRPr sz="1700">
                <a:solidFill>
                  <a:srgbClr val="28303F"/>
                </a:solidFill>
              </a:defRPr>
            </a:pPr>
            <a:r>
              <a:rPr dirty="0"/>
              <a:t>Enhanced with custom thematic visuals for stronger storytelling.</a:t>
            </a:r>
          </a:p>
        </p:txBody>
      </p:sp>
      <p:pic>
        <p:nvPicPr>
          <p:cNvPr id="7" name="Picture 6" descr="city_smog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79" y="3162825"/>
            <a:ext cx="4570694" cy="35132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4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54D"/>
                </a:solidFill>
              </a:defRPr>
            </a:pPr>
            <a:r>
              <a:t>Analysis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303F"/>
                </a:solidFill>
              </a:defRPr>
            </a:pPr>
            <a:r>
              <a:t>From raw data to actionable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51206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Data Quality: missing values and consistency checks</a:t>
            </a:r>
          </a:p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Descriptive Layer: distribution, trend, and outliers</a:t>
            </a:r>
          </a:p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Spatial Layer: station-level exposure differences</a:t>
            </a:r>
          </a:p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Relationship Layer: pollutant and weather correlations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4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54D"/>
                </a:solidFill>
              </a:defRPr>
            </a:pPr>
            <a: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Records used: 412,029</a:t>
            </a:r>
          </a:p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Stations covered: 12</a:t>
            </a:r>
          </a:p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Time range: 2013-03-01 to 2017-02-28</a:t>
            </a:r>
          </a:p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Key variables: PM2.5, PM10, SO2, NO2, CO, O3</a:t>
            </a:r>
          </a:p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Data files loaded: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4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54D"/>
                </a:solidFill>
              </a:defRPr>
            </a:pPr>
            <a:r>
              <a:t>PM2.5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49377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Mean: 79.79 | Median: 55.00</a:t>
            </a:r>
          </a:p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Right-skewed distribution indicates episodic high-pollution events.</a:t>
            </a:r>
          </a:p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Most observations cluster at lower-to-mid concentration levels.</a:t>
            </a:r>
          </a:p>
        </p:txBody>
      </p:sp>
      <p:pic>
        <p:nvPicPr>
          <p:cNvPr id="6" name="Picture 5" descr="pm25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53921"/>
            <a:ext cx="4937760" cy="36480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4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54D"/>
                </a:solidFill>
              </a:defRPr>
            </a:pPr>
            <a:r>
              <a:t>Monthly PM2.5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49377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Clear month-to-month volatility over the observed period.</a:t>
            </a:r>
          </a:p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Seasonal behavior suggests stronger winter pollution pressure.</a:t>
            </a:r>
          </a:p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Trend monitoring supports policy timing and early warning.</a:t>
            </a:r>
          </a:p>
        </p:txBody>
      </p:sp>
      <p:pic>
        <p:nvPicPr>
          <p:cNvPr id="6" name="Picture 5" descr="pm25_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034937"/>
            <a:ext cx="5486400" cy="38230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4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54D"/>
                </a:solidFill>
              </a:defRPr>
            </a:pPr>
            <a:r>
              <a:t>Station Comparison (PM2.5 Mean)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2572243" cy="2831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rPr lang="en-NZ" dirty="0"/>
              <a:t>Highest station: </a:t>
            </a:r>
          </a:p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rPr lang="en-NZ" dirty="0"/>
              <a:t>	</a:t>
            </a:r>
            <a:r>
              <a:rPr lang="en-NZ" dirty="0" err="1"/>
              <a:t>Dongsi</a:t>
            </a:r>
            <a:r>
              <a:rPr lang="en-NZ" dirty="0"/>
              <a:t> (86.2)</a:t>
            </a:r>
          </a:p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rPr lang="en-NZ" dirty="0"/>
              <a:t>Lowest station: </a:t>
            </a:r>
          </a:p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rPr lang="en-NZ" dirty="0"/>
              <a:t>	</a:t>
            </a:r>
            <a:r>
              <a:rPr lang="en-NZ" dirty="0" err="1"/>
              <a:t>Dingling</a:t>
            </a:r>
            <a:r>
              <a:rPr lang="en-NZ" dirty="0"/>
              <a:t> (66.0)</a:t>
            </a:r>
          </a:p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rPr lang="en-NZ" dirty="0"/>
              <a:t>Spatial inequality </a:t>
            </a:r>
          </a:p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rPr lang="en-NZ" dirty="0"/>
              <a:t>Supports zone-based </a:t>
            </a:r>
          </a:p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rPr lang="en-NZ" dirty="0"/>
              <a:t>management strategies.</a:t>
            </a:r>
          </a:p>
        </p:txBody>
      </p:sp>
      <p:pic>
        <p:nvPicPr>
          <p:cNvPr id="6" name="Picture 5" descr="stati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043" y="1721684"/>
            <a:ext cx="5808715" cy="44178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4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54D"/>
                </a:solidFill>
              </a:defRPr>
            </a:pPr>
            <a:r>
              <a:t>Pollutant Spread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49377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Different pollutants show distinct spread and outlier behavior.</a:t>
            </a:r>
          </a:p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High-dispersion indicators require tighter operational monitoring.</a:t>
            </a:r>
          </a:p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Outliers likely correspond to extreme local pollution episodes.</a:t>
            </a:r>
          </a:p>
        </p:txBody>
      </p:sp>
      <p:pic>
        <p:nvPicPr>
          <p:cNvPr id="6" name="Picture 5" descr="pollutant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594" y="3034937"/>
            <a:ext cx="5162006" cy="38230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4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54D"/>
                </a:solidFill>
              </a:defRPr>
            </a:pPr>
            <a:r>
              <a:t>Correlation Heatmap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49377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Key PM2.5 relationships: PM10: 0.88, CO: 0.78, NO2: 0.66</a:t>
            </a:r>
          </a:p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Strong positive links imply shared sources or co-movement effects.</a:t>
            </a:r>
          </a:p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Correlation findings can guide predictive feature selection.</a:t>
            </a:r>
          </a:p>
        </p:txBody>
      </p:sp>
      <p:pic>
        <p:nvPicPr>
          <p:cNvPr id="6" name="Picture 5" descr="cor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69622"/>
            <a:ext cx="5884817" cy="38883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"/>
            <a:ext cx="9144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4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54D"/>
                </a:solidFill>
              </a:defRPr>
            </a:pPr>
            <a:r>
              <a:t>Conclusions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1206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Air pollution is both spatially and temporally heterogeneous.</a:t>
            </a:r>
          </a:p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PM2.5 mitigation should be coordinated with PM10/CO controls.</a:t>
            </a:r>
          </a:p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Season-focused and station-specific interventions are recommended.</a:t>
            </a:r>
          </a:p>
          <a:p>
            <a:pPr>
              <a:spcAft>
                <a:spcPts val="900"/>
              </a:spcAft>
              <a:defRPr sz="1900">
                <a:solidFill>
                  <a:srgbClr val="28303F"/>
                </a:solidFill>
              </a:defRPr>
            </a:pPr>
            <a:r>
              <a:t>Next: integrate full-site data and build forecasting models.</a:t>
            </a:r>
          </a:p>
        </p:txBody>
      </p:sp>
      <p:pic>
        <p:nvPicPr>
          <p:cNvPr id="6" name="Picture 5" descr="clean_city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41914"/>
            <a:ext cx="5841274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288</Words>
  <Application>Microsoft Macintosh PowerPoint</Application>
  <PresentationFormat>On-screen Show (4:3)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Qingchao Li</cp:lastModifiedBy>
  <cp:revision>3</cp:revision>
  <dcterms:created xsi:type="dcterms:W3CDTF">2013-01-27T09:14:16Z</dcterms:created>
  <dcterms:modified xsi:type="dcterms:W3CDTF">2026-04-25T23:52:07Z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2026-04-24T02:19:19Z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2e97b4b9-42a7-40ed-a3e2-d27dd0e6255f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50, 3, 0, 1</vt:lpwstr>
  </property>
</Properties>
</file>