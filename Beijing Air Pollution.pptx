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18"/>
  </p:normalViewPr>
  <p:slideViewPr>
    <p:cSldViewPr snapToGrid="0" snapToObjects="1">
      <p:cViewPr varScale="1">
        <p:scale>
          <a:sx n="117" d="100"/>
          <a:sy n="117" d="100"/>
        </p:scale>
        <p:origin x="1384" y="1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Beijing Air Quality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8"/>
            <a:ext cx="23998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8303F"/>
                </a:solidFill>
              </a:defRPr>
            </a:pPr>
            <a:r>
              <a:t>Visual | </a:t>
            </a:r>
            <a:r>
              <a:rPr dirty="0"/>
              <a:t>Data + Storytelling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6150979" cy="73096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8303F"/>
                </a:solidFill>
              </a:defRPr>
            </a:pPr>
            <a:r>
              <a:rPr dirty="0"/>
              <a:t>Includes descriptive analytics, station comparison, and correlations.</a:t>
            </a:r>
          </a:p>
          <a:p>
            <a:pPr>
              <a:spcAft>
                <a:spcPts val="900"/>
              </a:spcAft>
              <a:defRPr sz="1700">
                <a:solidFill>
                  <a:srgbClr val="28303F"/>
                </a:solidFill>
              </a:defRPr>
            </a:pPr>
            <a:r>
              <a:rPr dirty="0"/>
              <a:t>Enhanced with custom thematic visuals for stronger storytelling.</a:t>
            </a:r>
          </a:p>
        </p:txBody>
      </p:sp>
      <p:pic>
        <p:nvPicPr>
          <p:cNvPr id="7" name="Picture 6" descr="city_smog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79" y="3162825"/>
            <a:ext cx="4570694" cy="35132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Analysis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8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8303F"/>
                </a:solidFill>
              </a:defRPr>
            </a:pPr>
            <a:r>
              <a:t>From raw data to actionable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51206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Data Quality: missing values and consistency checks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Descriptive Layer: distribution, trend, and outliers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Spatial Layer: station-level exposure differences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Relationship Layer: pollutant and weather correlations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Dataset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Records used: 412,029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Stations covered: 12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Time range: 2013-03-01 to 2017-02-28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Key variables: PM2.5, PM10, SO2, NO2, CO, O3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Data files loaded: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PM2.5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49377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Mean: 79.79 | Median: 55.00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Right-skewed distribution indicates episodic high-pollution events.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Most observations cluster at lower-to-mid concentration levels.</a:t>
            </a:r>
          </a:p>
        </p:txBody>
      </p:sp>
      <p:pic>
        <p:nvPicPr>
          <p:cNvPr id="6" name="Picture 5" descr="pm25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53921"/>
            <a:ext cx="4937760" cy="36480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Monthly PM2.5 Trend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49377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Clear month-to-month volatility over the observed period.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Seasonal behavior suggests stronger winter pollution pressure.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Trend monitoring supports policy timing and early warning.</a:t>
            </a:r>
          </a:p>
        </p:txBody>
      </p:sp>
      <p:pic>
        <p:nvPicPr>
          <p:cNvPr id="6" name="Picture 5" descr="pm25_monthly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034937"/>
            <a:ext cx="5486400" cy="38230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Station Comparison (PM2.5 Mean)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572243" cy="2831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rPr lang="en-NZ" dirty="0"/>
              <a:t>Highest station: 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rPr lang="en-NZ" dirty="0"/>
              <a:t>	</a:t>
            </a:r>
            <a:r>
              <a:rPr lang="en-NZ" dirty="0" err="1"/>
              <a:t>Dongsi</a:t>
            </a:r>
            <a:r>
              <a:rPr lang="en-NZ" dirty="0"/>
              <a:t> (86.2)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rPr lang="en-NZ" dirty="0"/>
              <a:t>Lowest station: 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rPr lang="en-NZ" dirty="0"/>
              <a:t>	</a:t>
            </a:r>
            <a:r>
              <a:rPr lang="en-NZ" dirty="0" err="1"/>
              <a:t>Dingling</a:t>
            </a:r>
            <a:r>
              <a:rPr lang="en-NZ" dirty="0"/>
              <a:t> (66.0)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rPr lang="en-NZ" dirty="0"/>
              <a:t>Spatial inequality 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rPr lang="en-NZ" dirty="0"/>
              <a:t>Supports zone-based 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rPr lang="en-NZ" dirty="0"/>
              <a:t>management strategies.</a:t>
            </a:r>
          </a:p>
        </p:txBody>
      </p:sp>
      <p:pic>
        <p:nvPicPr>
          <p:cNvPr id="6" name="Picture 5" descr="st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8043" y="1721684"/>
            <a:ext cx="5808715" cy="44178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Pollutant Spread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49377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Different pollutants show distinct spread and outlier behavior.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High-dispersion indicators require tighter operational monitoring.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Outliers likely correspond to extreme local pollution episodes.</a:t>
            </a:r>
          </a:p>
        </p:txBody>
      </p:sp>
      <p:pic>
        <p:nvPicPr>
          <p:cNvPr id="6" name="Picture 5" descr="pollutant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594" y="3034937"/>
            <a:ext cx="5162006" cy="38230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Correlation Heatmap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49377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Key PM2.5 relationships: PM10: 0.88, CO: 0.78, NO2: 0.66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Strong positive links imply shared sources or co-movement effects.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Correlation findings can guide predictive feature selection.</a:t>
            </a:r>
          </a:p>
        </p:txBody>
      </p:sp>
      <p:pic>
        <p:nvPicPr>
          <p:cNvPr id="6" name="Picture 5" descr="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69622"/>
            <a:ext cx="5884817" cy="38883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Conclusions &amp;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51206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Air pollution is both spatially and temporally heterogeneous.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PM2.5 mitigation should be coordinated with PM10/CO controls.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Season-focused and station-specific interventions are recommended.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Next: integrate full-site data and build forecasting models.</a:t>
            </a:r>
          </a:p>
        </p:txBody>
      </p:sp>
      <p:pic>
        <p:nvPicPr>
          <p:cNvPr id="6" name="Picture 5" descr="clean_city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341914"/>
            <a:ext cx="5841274" cy="3429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285</Words>
  <Application>Microsoft Macintosh PowerPoint</Application>
  <PresentationFormat>On-screen Show (4:3)</PresentationFormat>
  <Paragraphs>45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Qingchao Li</cp:lastModifiedBy>
  <cp:revision>4</cp:revision>
  <dcterms:created xsi:type="dcterms:W3CDTF">2013-01-27T09:14:16Z</dcterms:created>
  <dcterms:modified xsi:type="dcterms:W3CDTF">2026-04-25T23:53:26Z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96ed6d7-747c-41fd-b042-ff14484edc24_Enabled">
    <vt:lpwstr>true</vt:lpwstr>
  </property>
  <property fmtid="{D5CDD505-2E9C-101B-9397-08002B2CF9AE}" pid="3" name="MSIP_Label_c96ed6d7-747c-41fd-b042-ff14484edc24_SetDate">
    <vt:lpwstr>2026-04-24T02:19:19Z</vt:lpwstr>
  </property>
  <property fmtid="{D5CDD505-2E9C-101B-9397-08002B2CF9AE}" pid="4" name="MSIP_Label_c96ed6d7-747c-41fd-b042-ff14484edc24_Method">
    <vt:lpwstr>Standard</vt:lpwstr>
  </property>
  <property fmtid="{D5CDD505-2E9C-101B-9397-08002B2CF9AE}" pid="5" name="MSIP_Label_c96ed6d7-747c-41fd-b042-ff14484edc24_Name">
    <vt:lpwstr>defa4170-0d19-0005-0004-bc88714345d2</vt:lpwstr>
  </property>
  <property fmtid="{D5CDD505-2E9C-101B-9397-08002B2CF9AE}" pid="6" name="MSIP_Label_c96ed6d7-747c-41fd-b042-ff14484edc24_SiteId">
    <vt:lpwstr>6a425d0d-58f2-4e36-8689-10002b2ec567</vt:lpwstr>
  </property>
  <property fmtid="{D5CDD505-2E9C-101B-9397-08002B2CF9AE}" pid="7" name="MSIP_Label_c96ed6d7-747c-41fd-b042-ff14484edc24_ActionId">
    <vt:lpwstr>2e97b4b9-42a7-40ed-a3e2-d27dd0e6255f</vt:lpwstr>
  </property>
  <property fmtid="{D5CDD505-2E9C-101B-9397-08002B2CF9AE}" pid="8" name="MSIP_Label_c96ed6d7-747c-41fd-b042-ff14484edc24_ContentBits">
    <vt:lpwstr>0</vt:lpwstr>
  </property>
  <property fmtid="{D5CDD505-2E9C-101B-9397-08002B2CF9AE}" pid="9" name="MSIP_Label_c96ed6d7-747c-41fd-b042-ff14484edc24_Tag">
    <vt:lpwstr>50, 3, 0, 1</vt:lpwstr>
  </property>
</Properties>
</file>