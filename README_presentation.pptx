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Beijing PM2.5 Multi-Site</a:t>
            </a:r>
          </a:p>
          <a:p>
            <a:r>
              <a:t>Air Quality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Converted from README.md</a:t>
            </a:r>
          </a:p>
          <a:p>
            <a:r>
              <a:t>Data period: 2013-03 to 2017-02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Data Exploration</a:t>
            </a:r>
          </a:p>
          <a:p>
            <a:pPr>
              <a:defRPr sz="2000"/>
            </a:pPr>
            <a:r>
              <a:t>2. Data Cleaning</a:t>
            </a:r>
          </a:p>
          <a:p>
            <a:pPr>
              <a:defRPr sz="2000"/>
            </a:pPr>
            <a:r>
              <a:t>3. Descriptive Statistics</a:t>
            </a:r>
          </a:p>
          <a:p>
            <a:pPr>
              <a:defRPr sz="2000"/>
            </a:pPr>
            <a:r>
              <a:t>4. Station Analysis</a:t>
            </a:r>
          </a:p>
          <a:p>
            <a:pPr>
              <a:defRPr sz="2000"/>
            </a:pPr>
            <a:r>
              <a:t>5. Visualization Insights</a:t>
            </a:r>
          </a:p>
          <a:p>
            <a:pPr>
              <a:defRPr sz="2000"/>
            </a:pPr>
            <a:r>
              <a:t>6. Correlation Analysis</a:t>
            </a:r>
          </a:p>
          <a:p>
            <a:pPr>
              <a:defRPr sz="2000"/>
            </a:pPr>
            <a:r>
              <a:t>7. Conclusions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Total records: 420,768</a:t>
            </a:r>
          </a:p>
          <a:p>
            <a:pPr>
              <a:defRPr sz="2000"/>
            </a:pPr>
            <a:r>
              <a:t>Time span: 4 years (March 2013 - February 2017)</a:t>
            </a:r>
          </a:p>
          <a:p>
            <a:pPr>
              <a:defRPr sz="2000"/>
            </a:pPr>
            <a:r>
              <a:t>Monitoring stations: 12</a:t>
            </a:r>
          </a:p>
          <a:p>
            <a:pPr>
              <a:defRPr sz="2000"/>
            </a:pPr>
            <a:r>
              <a:t>Features: 19 columns</a:t>
            </a:r>
          </a:p>
          <a:p>
            <a:pPr>
              <a:defRPr sz="2000"/>
            </a:pPr>
            <a:r>
              <a:t>Covers pollutants + meteorological variables + station metadata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Remove rows missing PM2.5 (core target variable)</a:t>
            </a:r>
          </a:p>
          <a:p>
            <a:pPr>
              <a:defRPr sz="2000"/>
            </a:pPr>
            <a:r>
              <a:t>Drop rows with &gt;30% missing fields</a:t>
            </a:r>
          </a:p>
          <a:p>
            <a:pPr>
              <a:defRPr sz="2000"/>
            </a:pPr>
            <a:r>
              <a:t>Sort by time to preserve sequence</a:t>
            </a:r>
          </a:p>
          <a:p>
            <a:pPr>
              <a:defRPr sz="2000"/>
            </a:pPr>
            <a:r>
              <a:t>Apply forward fill then backward fill</a:t>
            </a:r>
          </a:p>
          <a:p>
            <a:pPr>
              <a:defRPr sz="2000"/>
            </a:pPr>
            <a:r>
              <a:t>Drop any remaining missing rows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Descriptive Statistics: Key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PM2.5 mean: 79.82; median: 55; max: 999</a:t>
            </a:r>
          </a:p>
          <a:p>
            <a:pPr>
              <a:defRPr sz="2000"/>
            </a:pPr>
            <a:r>
              <a:t>PM10 mean: 104.78 (highest average)</a:t>
            </a:r>
          </a:p>
          <a:p>
            <a:pPr>
              <a:defRPr sz="2000"/>
            </a:pPr>
            <a:r>
              <a:t>CO std: 1166.55 (largest volatility)</a:t>
            </a:r>
          </a:p>
          <a:p>
            <a:pPr>
              <a:defRPr sz="2000"/>
            </a:pPr>
            <a:r>
              <a:t>Most pollutant distributions are right-skewed</a:t>
            </a:r>
          </a:p>
          <a:p>
            <a:pPr>
              <a:defRPr sz="2000"/>
            </a:pPr>
            <a:r>
              <a:t>Extreme events create long tails in concentration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Station-Level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Urban stations show consistently higher PM2.5 than suburban stations</a:t>
            </a:r>
          </a:p>
          <a:p>
            <a:pPr>
              <a:defRPr sz="2000"/>
            </a:pPr>
            <a:r>
              <a:t>Top polluted station: Dongsi (86.08)</a:t>
            </a:r>
          </a:p>
          <a:p>
            <a:pPr>
              <a:defRPr sz="2000"/>
            </a:pPr>
            <a:r>
              <a:t>Lowest polluted station: Dingling (66.39)</a:t>
            </a:r>
          </a:p>
          <a:p>
            <a:pPr>
              <a:defRPr sz="2000"/>
            </a:pPr>
            <a:r>
              <a:t>Urban-suburban gap ~20 points (~30% difference)</a:t>
            </a:r>
          </a:p>
          <a:p>
            <a:pPr>
              <a:defRPr sz="2000"/>
            </a:pPr>
            <a:r>
              <a:t>Spatial pattern suggests traffic + density effects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Histogram: PM2.5 mostly in 0-200, with a long right tail</a:t>
            </a:r>
          </a:p>
          <a:p>
            <a:pPr>
              <a:defRPr sz="2000"/>
            </a:pPr>
            <a:r>
              <a:t>Time series: strong fluctuation and seasonal peaks</a:t>
            </a:r>
          </a:p>
          <a:p>
            <a:pPr>
              <a:defRPr sz="2000"/>
            </a:pPr>
            <a:r>
              <a:t>Winter months show more frequent pollution spikes</a:t>
            </a:r>
          </a:p>
          <a:p>
            <a:pPr>
              <a:defRPr sz="2000"/>
            </a:pPr>
            <a:r>
              <a:t>Boxplots: PM10 and CO levels/variability stand out</a:t>
            </a:r>
          </a:p>
          <a:p>
            <a:pPr>
              <a:defRPr sz="2000"/>
            </a:pPr>
            <a:r>
              <a:t>Many outliers indicate episodic severe pollution events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with PM2.5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PM10: 0.88 (strong positive)</a:t>
            </a:r>
          </a:p>
          <a:p>
            <a:pPr>
              <a:defRPr sz="2000"/>
            </a:pPr>
            <a:r>
              <a:t>CO: 0.79 (strong positive)</a:t>
            </a:r>
          </a:p>
          <a:p>
            <a:pPr>
              <a:defRPr sz="2000"/>
            </a:pPr>
            <a:r>
              <a:t>NO2: 0.67 (moderate positive)</a:t>
            </a:r>
          </a:p>
          <a:p>
            <a:pPr>
              <a:defRPr sz="2000"/>
            </a:pPr>
            <a:r>
              <a:t>TEMP: -0.13 (weak negative)</a:t>
            </a:r>
          </a:p>
          <a:p>
            <a:pPr>
              <a:defRPr sz="2000"/>
            </a:pPr>
            <a:r>
              <a:t>O3: -0.15 (weak negative)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 &amp;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PM10 and PM2.5 likely share major emission sources</a:t>
            </a:r>
          </a:p>
          <a:p>
            <a:pPr>
              <a:defRPr sz="2000"/>
            </a:pPr>
            <a:r>
              <a:t>Cold weather correlates with higher PM2.5</a:t>
            </a:r>
          </a:p>
          <a:p>
            <a:pPr>
              <a:defRPr sz="2000"/>
            </a:pPr>
            <a:r>
              <a:t>Winter heating period is critical for policy intervention</a:t>
            </a:r>
          </a:p>
          <a:p>
            <a:pPr>
              <a:defRPr sz="2000"/>
            </a:pPr>
            <a:r>
              <a:t>Urban core requires stricter control measures</a:t>
            </a:r>
          </a:p>
          <a:p>
            <a:pPr>
              <a:defRPr sz="2000"/>
            </a:pPr>
            <a:r>
              <a:t>Suburban patterns can inform clean-air benchmarking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Beijing air quality exhibits clear spatial and temporal heterogeneity</a:t>
            </a:r>
          </a:p>
          <a:p>
            <a:pPr>
              <a:defRPr sz="2000"/>
            </a:pPr>
            <a:r>
              <a:t>PM2.5/PM10 remain the central pollution management targets</a:t>
            </a:r>
          </a:p>
          <a:p>
            <a:pPr>
              <a:defRPr sz="2000"/>
            </a:pPr>
            <a:r>
              <a:t>Controlling PM10 should strongly benefit PM2.5 reduction</a:t>
            </a:r>
          </a:p>
          <a:p>
            <a:pPr>
              <a:defRPr sz="2000"/>
            </a:pPr>
            <a:r>
              <a:t>Seasonal strategy (especially winter) is essential</a:t>
            </a:r>
          </a:p>
          <a:p>
            <a:pPr>
              <a:defRPr sz="2000"/>
            </a:pPr>
            <a:r>
              <a:t>Data-driven monitoring can support targeted policy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Integrate richer meteorological and source data</a:t>
            </a:r>
          </a:p>
          <a:p>
            <a:pPr>
              <a:defRPr sz="2000"/>
            </a:pPr>
            <a:r>
              <a:t>Build PM2.5 forecasting models</a:t>
            </a:r>
          </a:p>
          <a:p>
            <a:pPr>
              <a:defRPr sz="2000"/>
            </a:pPr>
            <a:r>
              <a:t>Evaluate policy interventions over time</a:t>
            </a:r>
          </a:p>
          <a:p>
            <a:pPr>
              <a:defRPr sz="2000"/>
            </a:pPr>
            <a:r>
              <a:t>Expand analysis to post-2018 data for continuity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